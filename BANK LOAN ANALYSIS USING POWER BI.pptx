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8" r:id="rId6"/>
    <p:sldId id="269" r:id="rId7"/>
    <p:sldId id="259" r:id="rId8"/>
    <p:sldId id="260" r:id="rId9"/>
    <p:sldId id="261" r:id="rId10"/>
    <p:sldId id="262" r:id="rId11"/>
    <p:sldId id="263" r:id="rId12"/>
    <p:sldId id="264" r:id="rId13"/>
    <p:sldId id="265" r:id="rId14"/>
    <p:sldId id="266"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7672F-03C0-0E07-85E2-AEFF7B31C5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57BF41-8247-C11A-917B-0E9D525DA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0D4FB0-924C-99E7-9D4E-B426A3BA1874}"/>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4070C9AE-A334-45A6-D580-1CC57026C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2EC9F2-1AF5-A7CC-0D9C-5FB46F1373F5}"/>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1733750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205F0-44F7-B1EB-E2B3-FF52C0B460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2EFE19-7466-7383-0EE3-F7CFF537E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AEFB34-D9BD-0938-76FB-730474DE9AE9}"/>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7CB1193E-A52A-1CB0-8C29-E074BC6CF0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5830F8-0814-E95B-5864-CABB7CFA7E04}"/>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374588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AFB92-B143-36A4-DC8C-5EA2FFFF24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385750-6415-F810-CD62-57A801A48B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57D796-8790-444C-4D22-391A178C1693}"/>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D2DED93A-11E2-B8EB-297E-C1541374E6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347825-8401-B807-5214-DD08BF625A36}"/>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3392144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D1E9-8BA5-BF6B-AE06-73220237B2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C4E8F6-592B-F5E2-A62A-6F56A47385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B446F8-FF5D-3828-9BB3-C571C328B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724DB3-3CAB-2D9C-B952-8D788AB85330}"/>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6" name="Footer Placeholder 5">
            <a:extLst>
              <a:ext uri="{FF2B5EF4-FFF2-40B4-BE49-F238E27FC236}">
                <a16:creationId xmlns:a16="http://schemas.microsoft.com/office/drawing/2014/main" id="{4D06BAA5-8319-4216-93D5-E0303ECF0D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0F96B6-F9B7-D4F8-9931-A2FAEA1FD348}"/>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694276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88FE3-5C16-E28D-8614-7706E120DA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60B150-6AFB-E6AC-1718-8641D696FF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118C4A-AC2A-054F-5396-4BFAD34EA1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AB195A-A4C6-59E1-DA14-9A34C00A62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84CC07-CC25-96B7-B940-3E0D34143A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A0BAF8-A0D1-9344-169C-5B91D59524F1}"/>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8" name="Footer Placeholder 7">
            <a:extLst>
              <a:ext uri="{FF2B5EF4-FFF2-40B4-BE49-F238E27FC236}">
                <a16:creationId xmlns:a16="http://schemas.microsoft.com/office/drawing/2014/main" id="{F2C97417-3490-BC15-DA9A-C5AA6DDB89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D1B2D6-74B0-BD93-6118-7B31E0A53866}"/>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3486923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BC8B-FE29-21DC-76BE-6E639DAEF1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1D1B72-2D45-BB51-9F5E-2E141CA6FDBF}"/>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4" name="Footer Placeholder 3">
            <a:extLst>
              <a:ext uri="{FF2B5EF4-FFF2-40B4-BE49-F238E27FC236}">
                <a16:creationId xmlns:a16="http://schemas.microsoft.com/office/drawing/2014/main" id="{0F2F80CF-F753-21CB-3866-A7B4F3EB96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D81831-DA07-4709-7E72-0FB5F70AE05C}"/>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1104148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C1B990-2679-361F-A07D-C0BDCB7CA4C5}"/>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3" name="Footer Placeholder 2">
            <a:extLst>
              <a:ext uri="{FF2B5EF4-FFF2-40B4-BE49-F238E27FC236}">
                <a16:creationId xmlns:a16="http://schemas.microsoft.com/office/drawing/2014/main" id="{B3E1403F-502A-B28B-B6AF-E4077F20C9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E9CA29-3E0F-2C8E-68D4-8160C594AB44}"/>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3571590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9DD2-0260-5809-C266-1BC91897CE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D424D1-E8D8-F4EA-F8FF-0EC2E3018C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12ABD-8C20-DF70-24AA-AD6BAB4CE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272DDB-808E-2B29-CBF6-B527B3BE9648}"/>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6" name="Footer Placeholder 5">
            <a:extLst>
              <a:ext uri="{FF2B5EF4-FFF2-40B4-BE49-F238E27FC236}">
                <a16:creationId xmlns:a16="http://schemas.microsoft.com/office/drawing/2014/main" id="{BDDC84A1-FE2D-5F29-198C-F03AFD8B25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D53ED9-D927-D4B1-4E84-F522D6EBE73D}"/>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198724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E1D6-69CE-FC65-DAD5-83025D7B7E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8924213-56C3-E5FC-B4C5-298CFEB452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3904B1-9E1A-F993-71D1-0DAAF20B1D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3E508E-DBE5-95FE-3496-0AFDA2A4811E}"/>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6" name="Footer Placeholder 5">
            <a:extLst>
              <a:ext uri="{FF2B5EF4-FFF2-40B4-BE49-F238E27FC236}">
                <a16:creationId xmlns:a16="http://schemas.microsoft.com/office/drawing/2014/main" id="{1AD1B3B5-DC09-55BA-6766-1BD5CC99BD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72EA3F-6AA7-5779-26A3-7FFE0EE19713}"/>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60385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E415-7CB6-78C1-6EE6-055E4868B1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DE92CE-B2A9-A370-D1B2-25B624637E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A0BC54-6C18-BC0E-5890-59D3F9734114}"/>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270F7D9B-050C-AE37-97CC-AC6E33A6A9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B6C6A9-786F-AD04-6B6F-8EC90ED637B6}"/>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296852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A666B9-6137-F099-C73E-22FCAA28D3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BF51B0-DE6D-B087-E100-A9A3982D93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7148C4-26A8-2F08-DC6A-E06D6B96924C}"/>
              </a:ext>
            </a:extLst>
          </p:cNvPr>
          <p:cNvSpPr>
            <a:spLocks noGrp="1"/>
          </p:cNvSpPr>
          <p:nvPr>
            <p:ph type="dt" sz="half" idx="10"/>
          </p:nvPr>
        </p:nvSpPr>
        <p:spPr/>
        <p:txBody>
          <a:body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9EB45DFE-4057-B292-AF0B-E6D8343D32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5939AA-F3D2-4848-6698-56550E6C52E6}"/>
              </a:ext>
            </a:extLst>
          </p:cNvPr>
          <p:cNvSpPr>
            <a:spLocks noGrp="1"/>
          </p:cNvSpPr>
          <p:nvPr>
            <p:ph type="sldNum" sz="quarter" idx="12"/>
          </p:nvPr>
        </p:nvSpPr>
        <p:spPr/>
        <p:txBody>
          <a:bodyPr/>
          <a:lstStyle/>
          <a:p>
            <a:fld id="{126FD119-AD39-4128-B30D-ED2E7FF72EE1}" type="slidenum">
              <a:rPr lang="en-IN" smtClean="0"/>
              <a:t>‹#›</a:t>
            </a:fld>
            <a:endParaRPr lang="en-IN"/>
          </a:p>
        </p:txBody>
      </p:sp>
    </p:spTree>
    <p:extLst>
      <p:ext uri="{BB962C8B-B14F-4D97-AF65-F5344CB8AC3E}">
        <p14:creationId xmlns:p14="http://schemas.microsoft.com/office/powerpoint/2010/main" val="1076913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0251F2-7765-8DD3-B73A-0C1E192E73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39FDB7-F07B-CED5-1952-C743CFAE73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586AD-6FB6-ACE2-24A7-01A1F89DD9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9A4DB1-EB4D-4864-AC14-D783BEDDBA03}" type="datetimeFigureOut">
              <a:rPr lang="en-IN" smtClean="0"/>
              <a:t>03-05-2024</a:t>
            </a:fld>
            <a:endParaRPr lang="en-IN"/>
          </a:p>
        </p:txBody>
      </p:sp>
      <p:sp>
        <p:nvSpPr>
          <p:cNvPr id="5" name="Footer Placeholder 4">
            <a:extLst>
              <a:ext uri="{FF2B5EF4-FFF2-40B4-BE49-F238E27FC236}">
                <a16:creationId xmlns:a16="http://schemas.microsoft.com/office/drawing/2014/main" id="{39483FA9-0F23-8508-5638-545144C111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496B8A-A905-12D1-2102-287C9171F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6FD119-AD39-4128-B30D-ED2E7FF72EE1}" type="slidenum">
              <a:rPr lang="en-IN" smtClean="0"/>
              <a:t>‹#›</a:t>
            </a:fld>
            <a:endParaRPr lang="en-IN"/>
          </a:p>
        </p:txBody>
      </p:sp>
    </p:spTree>
    <p:extLst>
      <p:ext uri="{BB962C8B-B14F-4D97-AF65-F5344CB8AC3E}">
        <p14:creationId xmlns:p14="http://schemas.microsoft.com/office/powerpoint/2010/main" val="341135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moodysanalytics.com/products-overview/riskcalc-credit-risk-modeling-and-validation" TargetMode="External"/><Relationship Id="rId2" Type="http://schemas.openxmlformats.org/officeDocument/2006/relationships/hyperlink" Target="https://docs.microsoft.com/en-us/power-bi/" TargetMode="External"/><Relationship Id="rId1" Type="http://schemas.openxmlformats.org/officeDocument/2006/relationships/slideLayout" Target="../slideLayouts/slideLayout2.xml"/><Relationship Id="rId6" Type="http://schemas.openxmlformats.org/officeDocument/2006/relationships/hyperlink" Target="https://data.worldbank.org/" TargetMode="External"/><Relationship Id="rId5" Type="http://schemas.openxmlformats.org/officeDocument/2006/relationships/hyperlink" Target="https://www.sec.gov/edgar.shtml" TargetMode="External"/><Relationship Id="rId4" Type="http://schemas.openxmlformats.org/officeDocument/2006/relationships/hyperlink" Target="http://www.rstudio.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6D18-EBB9-2BA4-DE10-F71140ED287E}"/>
              </a:ext>
            </a:extLst>
          </p:cNvPr>
          <p:cNvSpPr>
            <a:spLocks noGrp="1"/>
          </p:cNvSpPr>
          <p:nvPr>
            <p:ph type="ctrTitle"/>
          </p:nvPr>
        </p:nvSpPr>
        <p:spPr>
          <a:xfrm>
            <a:off x="1050471" y="2235200"/>
            <a:ext cx="10091057" cy="2387600"/>
          </a:xfrm>
        </p:spPr>
        <p:txBody>
          <a:bodyPr>
            <a:normAutofit/>
          </a:bodyPr>
          <a:lstStyle/>
          <a:p>
            <a:r>
              <a:rPr lang="en-IN" sz="6600" b="1" dirty="0">
                <a:solidFill>
                  <a:schemeClr val="accent1">
                    <a:lumMod val="75000"/>
                  </a:schemeClr>
                </a:solidFill>
              </a:rPr>
              <a:t>BANK LOAN ANALYSIS USING POWER BI</a:t>
            </a:r>
          </a:p>
        </p:txBody>
      </p:sp>
      <p:graphicFrame>
        <p:nvGraphicFramePr>
          <p:cNvPr id="4" name="Table 3">
            <a:extLst>
              <a:ext uri="{FF2B5EF4-FFF2-40B4-BE49-F238E27FC236}">
                <a16:creationId xmlns:a16="http://schemas.microsoft.com/office/drawing/2014/main" id="{B5CCAB21-7DC4-4966-1161-42FEEC337939}"/>
              </a:ext>
            </a:extLst>
          </p:cNvPr>
          <p:cNvGraphicFramePr>
            <a:graphicFrameLocks noGrp="1"/>
          </p:cNvGraphicFramePr>
          <p:nvPr>
            <p:extLst>
              <p:ext uri="{D42A27DB-BD31-4B8C-83A1-F6EECF244321}">
                <p14:modId xmlns:p14="http://schemas.microsoft.com/office/powerpoint/2010/main" val="850640326"/>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920931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537E-8ADF-21D4-E389-3635A069E232}"/>
              </a:ext>
            </a:extLst>
          </p:cNvPr>
          <p:cNvSpPr>
            <a:spLocks noGrp="1"/>
          </p:cNvSpPr>
          <p:nvPr>
            <p:ph type="ctrTitle"/>
          </p:nvPr>
        </p:nvSpPr>
        <p:spPr>
          <a:xfrm>
            <a:off x="1524000" y="273278"/>
            <a:ext cx="9144000" cy="1098323"/>
          </a:xfrm>
        </p:spPr>
        <p:txBody>
          <a:bodyPr/>
          <a:lstStyle/>
          <a:p>
            <a:r>
              <a:rPr lang="en-IN" b="1" u="sng" dirty="0">
                <a:solidFill>
                  <a:schemeClr val="accent1">
                    <a:lumMod val="75000"/>
                  </a:schemeClr>
                </a:solidFill>
              </a:rPr>
              <a:t>Introduction</a:t>
            </a:r>
          </a:p>
        </p:txBody>
      </p:sp>
      <p:sp>
        <p:nvSpPr>
          <p:cNvPr id="3" name="Subtitle 2">
            <a:extLst>
              <a:ext uri="{FF2B5EF4-FFF2-40B4-BE49-F238E27FC236}">
                <a16:creationId xmlns:a16="http://schemas.microsoft.com/office/drawing/2014/main" id="{C03A6081-44AB-EF20-3B3E-7F77FF51561B}"/>
              </a:ext>
            </a:extLst>
          </p:cNvPr>
          <p:cNvSpPr>
            <a:spLocks noGrp="1"/>
          </p:cNvSpPr>
          <p:nvPr>
            <p:ph type="subTitle" idx="1"/>
          </p:nvPr>
        </p:nvSpPr>
        <p:spPr>
          <a:xfrm>
            <a:off x="669471" y="1632857"/>
            <a:ext cx="10874829" cy="4163786"/>
          </a:xfrm>
        </p:spPr>
        <p:txBody>
          <a:bodyPr>
            <a:normAutofit lnSpcReduction="10000"/>
          </a:bodyPr>
          <a:lstStyle/>
          <a:p>
            <a:pPr algn="just">
              <a:lnSpc>
                <a:spcPct val="150000"/>
              </a:lnSpc>
            </a:pPr>
            <a:r>
              <a:rPr lang="en-IN" dirty="0"/>
              <a:t>In this insightful analysis, we leverage cutting-edge data visualization to provide a detailed examination of loan performance, risk assessment, and financial trends. Through interactive dashboards and robust analytics, we aim to empower informed decision-making, enabling stakeholders to navigate the complexities of lending with confidence. Bank loans are a crucial financial tool that enables individuals and businesses to achieve their goals and manage financial needs. However, it’s essential for borrowers to understand the terms, costs, and responsibilities associated with loans to make informed financial decisions.</a:t>
            </a:r>
          </a:p>
        </p:txBody>
      </p:sp>
      <p:graphicFrame>
        <p:nvGraphicFramePr>
          <p:cNvPr id="5" name="Table 4">
            <a:extLst>
              <a:ext uri="{FF2B5EF4-FFF2-40B4-BE49-F238E27FC236}">
                <a16:creationId xmlns:a16="http://schemas.microsoft.com/office/drawing/2014/main" id="{5ECD9E6F-90D2-0F65-C4D5-B1FC587912F6}"/>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39624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3E0C-CFBE-AAA6-9A94-C1EEF8771F8B}"/>
              </a:ext>
            </a:extLst>
          </p:cNvPr>
          <p:cNvSpPr>
            <a:spLocks noGrp="1"/>
          </p:cNvSpPr>
          <p:nvPr>
            <p:ph type="title"/>
          </p:nvPr>
        </p:nvSpPr>
        <p:spPr>
          <a:xfrm>
            <a:off x="838200" y="555171"/>
            <a:ext cx="10515600" cy="745218"/>
          </a:xfrm>
        </p:spPr>
        <p:txBody>
          <a:bodyPr/>
          <a:lstStyle/>
          <a:p>
            <a:pPr algn="ctr"/>
            <a:r>
              <a:rPr lang="en-IN" b="1" u="sng" dirty="0">
                <a:solidFill>
                  <a:schemeClr val="accent1">
                    <a:lumMod val="75000"/>
                  </a:schemeClr>
                </a:solidFill>
              </a:rPr>
              <a:t>Problem Statement</a:t>
            </a:r>
          </a:p>
        </p:txBody>
      </p:sp>
      <p:sp>
        <p:nvSpPr>
          <p:cNvPr id="3" name="Content Placeholder 2">
            <a:extLst>
              <a:ext uri="{FF2B5EF4-FFF2-40B4-BE49-F238E27FC236}">
                <a16:creationId xmlns:a16="http://schemas.microsoft.com/office/drawing/2014/main" id="{12292969-D8D7-BC08-E4D2-8478D662F154}"/>
              </a:ext>
            </a:extLst>
          </p:cNvPr>
          <p:cNvSpPr>
            <a:spLocks noGrp="1"/>
          </p:cNvSpPr>
          <p:nvPr>
            <p:ph idx="1"/>
          </p:nvPr>
        </p:nvSpPr>
        <p:spPr>
          <a:xfrm>
            <a:off x="291193" y="1502230"/>
            <a:ext cx="11609614" cy="4800599"/>
          </a:xfrm>
        </p:spPr>
        <p:txBody>
          <a:bodyPr>
            <a:normAutofit fontScale="85000" lnSpcReduction="10000"/>
          </a:bodyPr>
          <a:lstStyle/>
          <a:p>
            <a:pPr marL="0" indent="0" algn="just">
              <a:lnSpc>
                <a:spcPct val="150000"/>
              </a:lnSpc>
              <a:buNone/>
            </a:pPr>
            <a:r>
              <a:rPr lang="en-US" sz="3200" kern="100" dirty="0">
                <a:effectLst/>
                <a:ea typeface="Calibri" panose="020F0502020204030204" pitchFamily="34" charset="0"/>
              </a:rPr>
              <a:t>In an era characterized by an exponential increase in data generation, the financial sector is undergoing a profound transformation driven by the need for data-driven decision-making. Within this landscape, bank loan analysis emerges as a critical area of focus, serving as the cornerstone of strategic planning, risk management, and performance optimization for financial institutions. This chapter provides a brief introduction to the project, outlining its objectives, and underscores the significance of bank loan analysis in the financial sector.</a:t>
            </a:r>
            <a:endParaRPr lang="en-IN" sz="3200" kern="100" dirty="0">
              <a:effectLst/>
              <a:ea typeface="Calibri" panose="020F0502020204030204" pitchFamily="34" charset="0"/>
            </a:endParaRPr>
          </a:p>
          <a:p>
            <a:pPr marL="0" indent="0" algn="just">
              <a:lnSpc>
                <a:spcPct val="150000"/>
              </a:lnSpc>
              <a:buNone/>
            </a:pPr>
            <a:endParaRPr lang="en-IN" sz="4400" dirty="0"/>
          </a:p>
        </p:txBody>
      </p:sp>
      <p:graphicFrame>
        <p:nvGraphicFramePr>
          <p:cNvPr id="4" name="Table 3">
            <a:extLst>
              <a:ext uri="{FF2B5EF4-FFF2-40B4-BE49-F238E27FC236}">
                <a16:creationId xmlns:a16="http://schemas.microsoft.com/office/drawing/2014/main" id="{3A07C0A5-D8BA-BBCF-84A1-FD154D9AA978}"/>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2966981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77805-A090-F578-C4C1-F255191E2C9A}"/>
              </a:ext>
            </a:extLst>
          </p:cNvPr>
          <p:cNvSpPr>
            <a:spLocks noGrp="1"/>
          </p:cNvSpPr>
          <p:nvPr>
            <p:ph type="title"/>
          </p:nvPr>
        </p:nvSpPr>
        <p:spPr/>
        <p:txBody>
          <a:bodyPr/>
          <a:lstStyle/>
          <a:p>
            <a:pPr algn="ctr"/>
            <a:r>
              <a:rPr lang="en-IN" b="1" u="sng" dirty="0">
                <a:solidFill>
                  <a:schemeClr val="accent1">
                    <a:lumMod val="75000"/>
                  </a:schemeClr>
                </a:solidFill>
              </a:rPr>
              <a:t>Objective</a:t>
            </a:r>
          </a:p>
        </p:txBody>
      </p:sp>
      <p:sp>
        <p:nvSpPr>
          <p:cNvPr id="3" name="Content Placeholder 2">
            <a:extLst>
              <a:ext uri="{FF2B5EF4-FFF2-40B4-BE49-F238E27FC236}">
                <a16:creationId xmlns:a16="http://schemas.microsoft.com/office/drawing/2014/main" id="{A53B435F-A11E-6C07-A63A-DE15A90C822F}"/>
              </a:ext>
            </a:extLst>
          </p:cNvPr>
          <p:cNvSpPr>
            <a:spLocks noGrp="1"/>
          </p:cNvSpPr>
          <p:nvPr>
            <p:ph idx="1"/>
          </p:nvPr>
        </p:nvSpPr>
        <p:spPr/>
        <p:txBody>
          <a:bodyPr>
            <a:normAutofit fontScale="92500"/>
          </a:bodyPr>
          <a:lstStyle/>
          <a:p>
            <a:pPr marL="0" indent="0" algn="just">
              <a:lnSpc>
                <a:spcPct val="150000"/>
              </a:lnSpc>
              <a:buNone/>
            </a:pPr>
            <a:r>
              <a:rPr lang="en-IN" kern="100" dirty="0">
                <a:effectLst/>
                <a:ea typeface="Calibri" panose="020F0502020204030204" pitchFamily="34" charset="0"/>
              </a:rPr>
              <a:t>The primary objective of this project is to leverage the capabilities of Power BI to conduct a comprehensive analysis of bank loans. By utilizing Power BI's advanced visualization and analytics features, we aim to gain insights into various aspects of loan portfolio performance and borrower characteristics. The project encompasses data collection, preprocessing, analysis, and visualization, culminating in the creation of interactive dashboards that provide stakeholders with actionable insights for strategic decision-making.</a:t>
            </a:r>
          </a:p>
          <a:p>
            <a:pPr marL="0" indent="0" algn="just">
              <a:lnSpc>
                <a:spcPct val="150000"/>
              </a:lnSpc>
              <a:buNone/>
            </a:pPr>
            <a:endParaRPr lang="en-IN" sz="4000" dirty="0"/>
          </a:p>
        </p:txBody>
      </p:sp>
      <p:graphicFrame>
        <p:nvGraphicFramePr>
          <p:cNvPr id="4" name="Table 3">
            <a:extLst>
              <a:ext uri="{FF2B5EF4-FFF2-40B4-BE49-F238E27FC236}">
                <a16:creationId xmlns:a16="http://schemas.microsoft.com/office/drawing/2014/main" id="{03A462A9-F8D7-F72C-AA19-AA3EA76D7A3D}"/>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371178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58D7-FA83-1A47-37EB-6B78C309B539}"/>
              </a:ext>
            </a:extLst>
          </p:cNvPr>
          <p:cNvSpPr>
            <a:spLocks noGrp="1"/>
          </p:cNvSpPr>
          <p:nvPr>
            <p:ph type="title"/>
          </p:nvPr>
        </p:nvSpPr>
        <p:spPr/>
        <p:txBody>
          <a:bodyPr/>
          <a:lstStyle/>
          <a:p>
            <a:pPr algn="ctr"/>
            <a:r>
              <a:rPr lang="en-IN" b="1" u="sng" dirty="0">
                <a:solidFill>
                  <a:schemeClr val="accent1">
                    <a:lumMod val="75000"/>
                  </a:schemeClr>
                </a:solidFill>
              </a:rPr>
              <a:t>Significance of Bank Loan Analysis in the Financial Sector</a:t>
            </a:r>
          </a:p>
        </p:txBody>
      </p:sp>
      <p:sp>
        <p:nvSpPr>
          <p:cNvPr id="3" name="Content Placeholder 2">
            <a:extLst>
              <a:ext uri="{FF2B5EF4-FFF2-40B4-BE49-F238E27FC236}">
                <a16:creationId xmlns:a16="http://schemas.microsoft.com/office/drawing/2014/main" id="{B2E45C17-2D5A-160F-5F8C-52211CE8F997}"/>
              </a:ext>
            </a:extLst>
          </p:cNvPr>
          <p:cNvSpPr>
            <a:spLocks noGrp="1"/>
          </p:cNvSpPr>
          <p:nvPr>
            <p:ph idx="1"/>
          </p:nvPr>
        </p:nvSpPr>
        <p:spPr/>
        <p:txBody>
          <a:bodyPr>
            <a:normAutofit/>
          </a:bodyPr>
          <a:lstStyle/>
          <a:p>
            <a:pPr marL="0" indent="0" algn="just">
              <a:lnSpc>
                <a:spcPct val="150000"/>
              </a:lnSpc>
              <a:spcBef>
                <a:spcPts val="1200"/>
              </a:spcBef>
              <a:spcAft>
                <a:spcPts val="800"/>
              </a:spcAft>
              <a:buNone/>
            </a:pPr>
            <a:r>
              <a:rPr lang="en-IN" kern="100" dirty="0">
                <a:effectLst/>
                <a:ea typeface="Calibri" panose="020F0502020204030204" pitchFamily="34" charset="0"/>
              </a:rPr>
              <a:t>Bank loan analysis holds immense significance in the financial sector due to its crucial role in assessing credit risk, optimizing loan portfolio performance, and informing strategic decision-making. By </a:t>
            </a:r>
            <a:r>
              <a:rPr lang="en-IN" kern="100" dirty="0" err="1">
                <a:effectLst/>
                <a:ea typeface="Calibri" panose="020F0502020204030204" pitchFamily="34" charset="0"/>
              </a:rPr>
              <a:t>analyzing</a:t>
            </a:r>
            <a:r>
              <a:rPr lang="en-IN" kern="100" dirty="0">
                <a:effectLst/>
                <a:ea typeface="Calibri" panose="020F0502020204030204" pitchFamily="34" charset="0"/>
              </a:rPr>
              <a:t> loan data, financial institutions can identify trends, patterns, and potential risks within their portfolios, enabling them to mitigate losses, enhance profitability, and ensure regulatory compliance.</a:t>
            </a:r>
          </a:p>
        </p:txBody>
      </p:sp>
      <p:graphicFrame>
        <p:nvGraphicFramePr>
          <p:cNvPr id="4" name="Table 3">
            <a:extLst>
              <a:ext uri="{FF2B5EF4-FFF2-40B4-BE49-F238E27FC236}">
                <a16:creationId xmlns:a16="http://schemas.microsoft.com/office/drawing/2014/main" id="{D5E88B3C-FC11-5FA4-0FEF-9443DB997A6F}"/>
              </a:ext>
            </a:extLst>
          </p:cNvPr>
          <p:cNvGraphicFramePr>
            <a:graphicFrameLocks noGrp="1"/>
          </p:cNvGraphicFramePr>
          <p:nvPr>
            <p:extLst>
              <p:ext uri="{D42A27DB-BD31-4B8C-83A1-F6EECF244321}">
                <p14:modId xmlns:p14="http://schemas.microsoft.com/office/powerpoint/2010/main" val="2388258610"/>
              </p:ext>
            </p:extLst>
          </p:nvPr>
        </p:nvGraphicFramePr>
        <p:xfrm>
          <a:off x="114300" y="114298"/>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85656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E961-534E-0DA6-E5A3-7B3284822C13}"/>
              </a:ext>
            </a:extLst>
          </p:cNvPr>
          <p:cNvSpPr>
            <a:spLocks noGrp="1"/>
          </p:cNvSpPr>
          <p:nvPr>
            <p:ph type="title"/>
          </p:nvPr>
        </p:nvSpPr>
        <p:spPr/>
        <p:txBody>
          <a:bodyPr/>
          <a:lstStyle/>
          <a:p>
            <a:pPr algn="ctr"/>
            <a:r>
              <a:rPr lang="en-IN" b="1" u="sng" dirty="0">
                <a:solidFill>
                  <a:schemeClr val="accent1">
                    <a:lumMod val="75000"/>
                  </a:schemeClr>
                </a:solidFill>
              </a:rPr>
              <a:t>Effective Bank Loan Analysis enables Financial Institutions to:</a:t>
            </a:r>
          </a:p>
        </p:txBody>
      </p:sp>
      <p:sp>
        <p:nvSpPr>
          <p:cNvPr id="3" name="Content Placeholder 2">
            <a:extLst>
              <a:ext uri="{FF2B5EF4-FFF2-40B4-BE49-F238E27FC236}">
                <a16:creationId xmlns:a16="http://schemas.microsoft.com/office/drawing/2014/main" id="{D5D913C4-130B-AE80-8312-4E75B597AD8B}"/>
              </a:ext>
            </a:extLst>
          </p:cNvPr>
          <p:cNvSpPr>
            <a:spLocks noGrp="1"/>
          </p:cNvSpPr>
          <p:nvPr>
            <p:ph idx="1"/>
          </p:nvPr>
        </p:nvSpPr>
        <p:spPr>
          <a:xfrm>
            <a:off x="767861" y="2141537"/>
            <a:ext cx="10515600" cy="4351338"/>
          </a:xfrm>
        </p:spPr>
        <p:txBody>
          <a:bodyPr/>
          <a:lstStyle/>
          <a:p>
            <a:pPr marL="514350" indent="-514350">
              <a:buAutoNum type="arabicPeriod"/>
            </a:pPr>
            <a:r>
              <a:rPr lang="en-IN" dirty="0"/>
              <a:t>Evaluate borrower creditworthiness</a:t>
            </a:r>
          </a:p>
          <a:p>
            <a:pPr marL="514350" indent="-514350">
              <a:buAutoNum type="arabicPeriod"/>
            </a:pPr>
            <a:r>
              <a:rPr lang="en-IN" dirty="0"/>
              <a:t>Monitor loan portfolio performance</a:t>
            </a:r>
          </a:p>
          <a:p>
            <a:pPr marL="514350" indent="-514350">
              <a:buAutoNum type="arabicPeriod"/>
            </a:pPr>
            <a:r>
              <a:rPr lang="en-IN" dirty="0"/>
              <a:t>Optimize loan portfolio composition</a:t>
            </a:r>
          </a:p>
          <a:p>
            <a:pPr marL="514350" indent="-514350">
              <a:buAutoNum type="arabicPeriod"/>
            </a:pPr>
            <a:r>
              <a:rPr lang="en-IN" dirty="0"/>
              <a:t>Support strategic decision-making</a:t>
            </a:r>
          </a:p>
        </p:txBody>
      </p:sp>
      <p:graphicFrame>
        <p:nvGraphicFramePr>
          <p:cNvPr id="4" name="Table 3">
            <a:extLst>
              <a:ext uri="{FF2B5EF4-FFF2-40B4-BE49-F238E27FC236}">
                <a16:creationId xmlns:a16="http://schemas.microsoft.com/office/drawing/2014/main" id="{95F5CA75-F547-1FD3-ACF4-0824A1E20B6D}"/>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3725982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5AE60-3C83-E48B-4598-F6063EB303D9}"/>
              </a:ext>
            </a:extLst>
          </p:cNvPr>
          <p:cNvSpPr>
            <a:spLocks noGrp="1"/>
          </p:cNvSpPr>
          <p:nvPr>
            <p:ph type="title"/>
          </p:nvPr>
        </p:nvSpPr>
        <p:spPr>
          <a:xfrm>
            <a:off x="838200" y="348797"/>
            <a:ext cx="10515600" cy="777874"/>
          </a:xfrm>
        </p:spPr>
        <p:txBody>
          <a:bodyPr>
            <a:normAutofit/>
          </a:bodyPr>
          <a:lstStyle/>
          <a:p>
            <a:pPr algn="ctr"/>
            <a:r>
              <a:rPr lang="en-IN" b="1" u="sng"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F0E3A47B-27A1-6276-F8BB-75453A232D3B}"/>
              </a:ext>
            </a:extLst>
          </p:cNvPr>
          <p:cNvSpPr>
            <a:spLocks noGrp="1"/>
          </p:cNvSpPr>
          <p:nvPr>
            <p:ph idx="1"/>
          </p:nvPr>
        </p:nvSpPr>
        <p:spPr>
          <a:xfrm>
            <a:off x="838200" y="1480002"/>
            <a:ext cx="10515600" cy="5176158"/>
          </a:xfrm>
        </p:spPr>
        <p:txBody>
          <a:bodyPr/>
          <a:lstStyle/>
          <a:p>
            <a:pPr marL="0" indent="0" algn="just">
              <a:buNone/>
            </a:pPr>
            <a:r>
              <a:rPr lang="en-IN" dirty="0"/>
              <a:t>Bank Loan analysis requires a robust methodology encompassing data collection, preprocessing, and analytical techniques to derive meaningful insights.</a:t>
            </a:r>
          </a:p>
          <a:p>
            <a:pPr marL="514350" indent="-514350" algn="just">
              <a:buAutoNum type="arabicPeriod"/>
            </a:pPr>
            <a:r>
              <a:rPr lang="en-IN" dirty="0"/>
              <a:t>Data Collection Process</a:t>
            </a:r>
          </a:p>
          <a:p>
            <a:pPr marL="514350" indent="-514350" algn="just">
              <a:buAutoNum type="arabicPeriod"/>
            </a:pPr>
            <a:r>
              <a:rPr lang="en-IN" dirty="0"/>
              <a:t>Data Preprocessing, Cleaning, and Transformation</a:t>
            </a:r>
          </a:p>
          <a:p>
            <a:pPr marL="971550" lvl="1" indent="-514350" algn="just">
              <a:buFont typeface="+mj-lt"/>
              <a:buAutoNum type="romanLcPeriod"/>
            </a:pPr>
            <a:r>
              <a:rPr lang="en-IN" dirty="0"/>
              <a:t>Data Cleaning: Removal of Duplicates, Handling Missing Values, Outlier Detection.</a:t>
            </a:r>
          </a:p>
          <a:p>
            <a:pPr marL="971550" lvl="1" indent="-514350" algn="just">
              <a:buFont typeface="+mj-lt"/>
              <a:buAutoNum type="romanLcPeriod"/>
            </a:pPr>
            <a:r>
              <a:rPr lang="en-IN" dirty="0"/>
              <a:t>Data Integration: Harmonization, Unification, Standardization. </a:t>
            </a:r>
          </a:p>
          <a:p>
            <a:pPr marL="971550" lvl="1" indent="-514350" algn="just">
              <a:buFont typeface="+mj-lt"/>
              <a:buAutoNum type="romanLcPeriod"/>
            </a:pPr>
            <a:r>
              <a:rPr lang="en-IN" dirty="0"/>
              <a:t>Feature Engineering: Insight Generation, Complexity Reduction, Transformation.</a:t>
            </a:r>
          </a:p>
          <a:p>
            <a:pPr marL="971550" lvl="1" indent="-514350" algn="just">
              <a:buFont typeface="+mj-lt"/>
              <a:buAutoNum type="romanLcPeriod"/>
            </a:pPr>
            <a:r>
              <a:rPr lang="en-IN" dirty="0"/>
              <a:t>Data Transformation: Standardization, Encoding Categorical Variables, Feature Engineering.</a:t>
            </a:r>
          </a:p>
        </p:txBody>
      </p:sp>
      <p:graphicFrame>
        <p:nvGraphicFramePr>
          <p:cNvPr id="4" name="Table 3">
            <a:extLst>
              <a:ext uri="{FF2B5EF4-FFF2-40B4-BE49-F238E27FC236}">
                <a16:creationId xmlns:a16="http://schemas.microsoft.com/office/drawing/2014/main" id="{980F056D-7D1E-F946-4994-EFCF406DE9C1}"/>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326090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8DD5-76DC-C40F-B776-176B1BF9D2D6}"/>
              </a:ext>
            </a:extLst>
          </p:cNvPr>
          <p:cNvSpPr>
            <a:spLocks noGrp="1"/>
          </p:cNvSpPr>
          <p:nvPr>
            <p:ph type="title"/>
          </p:nvPr>
        </p:nvSpPr>
        <p:spPr/>
        <p:txBody>
          <a:bodyPr/>
          <a:lstStyle/>
          <a:p>
            <a:pPr algn="ctr"/>
            <a:r>
              <a:rPr lang="en-IN" b="1" u="sng" dirty="0">
                <a:solidFill>
                  <a:schemeClr val="accent1">
                    <a:lumMod val="75000"/>
                  </a:schemeClr>
                </a:solidFill>
              </a:rPr>
              <a:t>Methodology</a:t>
            </a:r>
          </a:p>
        </p:txBody>
      </p:sp>
      <p:sp>
        <p:nvSpPr>
          <p:cNvPr id="3" name="Content Placeholder 2">
            <a:extLst>
              <a:ext uri="{FF2B5EF4-FFF2-40B4-BE49-F238E27FC236}">
                <a16:creationId xmlns:a16="http://schemas.microsoft.com/office/drawing/2014/main" id="{420C5528-93F6-FF0E-7278-BD1523F70B8E}"/>
              </a:ext>
            </a:extLst>
          </p:cNvPr>
          <p:cNvSpPr>
            <a:spLocks noGrp="1"/>
          </p:cNvSpPr>
          <p:nvPr>
            <p:ph idx="1"/>
          </p:nvPr>
        </p:nvSpPr>
        <p:spPr/>
        <p:txBody>
          <a:bodyPr>
            <a:normAutofit fontScale="92500" lnSpcReduction="10000"/>
          </a:bodyPr>
          <a:lstStyle/>
          <a:p>
            <a:pPr marL="0" indent="0" algn="just">
              <a:buNone/>
            </a:pPr>
            <a:r>
              <a:rPr lang="en-IN" dirty="0"/>
              <a:t>3. Analytical Techniques for Bank Loan Analysis:</a:t>
            </a:r>
          </a:p>
          <a:p>
            <a:pPr marL="1028700" lvl="1" indent="-571500" algn="just">
              <a:buFont typeface="+mj-lt"/>
              <a:buAutoNum type="romanLcPeriod"/>
            </a:pPr>
            <a:r>
              <a:rPr lang="en-IN" dirty="0"/>
              <a:t>Descriptive Analysis</a:t>
            </a:r>
          </a:p>
          <a:p>
            <a:pPr marL="1028700" lvl="1" indent="-571500" algn="just">
              <a:buFont typeface="+mj-lt"/>
              <a:buAutoNum type="romanLcPeriod"/>
            </a:pPr>
            <a:r>
              <a:rPr lang="en-IN" dirty="0"/>
              <a:t>Predictive Modelling</a:t>
            </a:r>
          </a:p>
          <a:p>
            <a:pPr marL="1028700" lvl="1" indent="-571500" algn="just">
              <a:buFont typeface="+mj-lt"/>
              <a:buAutoNum type="romanLcPeriod"/>
            </a:pPr>
            <a:r>
              <a:rPr lang="en-IN" dirty="0"/>
              <a:t>Segmentation Analysis</a:t>
            </a:r>
          </a:p>
          <a:p>
            <a:pPr marL="1028700" lvl="1" indent="-571500" algn="just">
              <a:buFont typeface="+mj-lt"/>
              <a:buAutoNum type="romanLcPeriod"/>
            </a:pPr>
            <a:r>
              <a:rPr lang="en-IN" dirty="0"/>
              <a:t>Financial Ratio Analysis</a:t>
            </a:r>
          </a:p>
          <a:p>
            <a:pPr marL="1028700" lvl="1" indent="-571500" algn="just">
              <a:buFont typeface="+mj-lt"/>
              <a:buAutoNum type="romanLcPeriod"/>
            </a:pPr>
            <a:r>
              <a:rPr lang="en-IN" dirty="0"/>
              <a:t>Time-Series Analysis</a:t>
            </a:r>
          </a:p>
          <a:p>
            <a:pPr marL="1028700" lvl="1" indent="-571500" algn="just">
              <a:buFont typeface="+mj-lt"/>
              <a:buAutoNum type="romanLcPeriod"/>
            </a:pPr>
            <a:r>
              <a:rPr lang="en-IN" dirty="0"/>
              <a:t>Probability of Default (PD) </a:t>
            </a:r>
            <a:r>
              <a:rPr lang="en-IN" dirty="0" err="1"/>
              <a:t>Modeling</a:t>
            </a:r>
            <a:endParaRPr lang="en-IN" dirty="0"/>
          </a:p>
          <a:p>
            <a:pPr marL="1028700" lvl="1" indent="-571500" algn="just">
              <a:buFont typeface="+mj-lt"/>
              <a:buAutoNum type="romanLcPeriod"/>
            </a:pPr>
            <a:r>
              <a:rPr lang="en-IN" dirty="0"/>
              <a:t>Portfolio Optimization</a:t>
            </a:r>
          </a:p>
          <a:p>
            <a:pPr marL="457200" lvl="1" indent="0" algn="just">
              <a:buNone/>
            </a:pPr>
            <a:endParaRPr lang="en-IN" dirty="0"/>
          </a:p>
          <a:p>
            <a:pPr marL="0" indent="0" algn="just">
              <a:buNone/>
            </a:pPr>
            <a:r>
              <a:rPr lang="en-IN" dirty="0"/>
              <a:t>By employing these methodologies and techniques, we were able to conduct comprehensive bank loan analysis, identify key risk factors, and optimize lending strategies to achieve desired business outcomes.</a:t>
            </a:r>
          </a:p>
        </p:txBody>
      </p:sp>
      <p:graphicFrame>
        <p:nvGraphicFramePr>
          <p:cNvPr id="4" name="Table 3">
            <a:extLst>
              <a:ext uri="{FF2B5EF4-FFF2-40B4-BE49-F238E27FC236}">
                <a16:creationId xmlns:a16="http://schemas.microsoft.com/office/drawing/2014/main" id="{372FA728-6291-9169-D60F-4EEAA7F9CD4D}"/>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690338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BB9C-CD3A-2F5C-6F45-EDE08E4835D1}"/>
              </a:ext>
            </a:extLst>
          </p:cNvPr>
          <p:cNvSpPr>
            <a:spLocks noGrp="1"/>
          </p:cNvSpPr>
          <p:nvPr>
            <p:ph type="title"/>
          </p:nvPr>
        </p:nvSpPr>
        <p:spPr>
          <a:xfrm>
            <a:off x="838200" y="153192"/>
            <a:ext cx="10515600" cy="1325563"/>
          </a:xfrm>
        </p:spPr>
        <p:txBody>
          <a:bodyPr/>
          <a:lstStyle/>
          <a:p>
            <a:pPr algn="ctr"/>
            <a:r>
              <a:rPr lang="en-IN" b="1" u="sng" dirty="0">
                <a:solidFill>
                  <a:schemeClr val="accent1">
                    <a:lumMod val="75000"/>
                  </a:schemeClr>
                </a:solidFill>
              </a:rPr>
              <a:t>Methodology</a:t>
            </a:r>
          </a:p>
        </p:txBody>
      </p:sp>
      <p:pic>
        <p:nvPicPr>
          <p:cNvPr id="4" name="Content Placeholder 3">
            <a:extLst>
              <a:ext uri="{FF2B5EF4-FFF2-40B4-BE49-F238E27FC236}">
                <a16:creationId xmlns:a16="http://schemas.microsoft.com/office/drawing/2014/main" id="{4DE6EA89-908B-FB33-7001-55663A4DCBD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469" r="12077"/>
          <a:stretch/>
        </p:blipFill>
        <p:spPr bwMode="auto">
          <a:xfrm>
            <a:off x="367076" y="1478755"/>
            <a:ext cx="4727439" cy="4184712"/>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14922B5-6521-3C62-BB8D-96FF56DF31A7}"/>
              </a:ext>
            </a:extLst>
          </p:cNvPr>
          <p:cNvPicPr>
            <a:picLocks noChangeAspect="1"/>
          </p:cNvPicPr>
          <p:nvPr/>
        </p:nvPicPr>
        <p:blipFill>
          <a:blip r:embed="rId3"/>
          <a:stretch>
            <a:fillRect/>
          </a:stretch>
        </p:blipFill>
        <p:spPr>
          <a:xfrm>
            <a:off x="5698671" y="2191346"/>
            <a:ext cx="6126253" cy="2759529"/>
          </a:xfrm>
          <a:prstGeom prst="rect">
            <a:avLst/>
          </a:prstGeom>
        </p:spPr>
      </p:pic>
      <p:graphicFrame>
        <p:nvGraphicFramePr>
          <p:cNvPr id="6" name="Table 5">
            <a:extLst>
              <a:ext uri="{FF2B5EF4-FFF2-40B4-BE49-F238E27FC236}">
                <a16:creationId xmlns:a16="http://schemas.microsoft.com/office/drawing/2014/main" id="{A1F916FD-7025-4286-BF32-E74A30EA11BF}"/>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943578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2BB00-97DE-C6C6-7C15-E6B35F68A7C8}"/>
              </a:ext>
            </a:extLst>
          </p:cNvPr>
          <p:cNvSpPr>
            <a:spLocks noGrp="1"/>
          </p:cNvSpPr>
          <p:nvPr>
            <p:ph type="title"/>
          </p:nvPr>
        </p:nvSpPr>
        <p:spPr>
          <a:xfrm>
            <a:off x="838200" y="875079"/>
            <a:ext cx="10515600" cy="728889"/>
          </a:xfrm>
        </p:spPr>
        <p:txBody>
          <a:bodyPr/>
          <a:lstStyle/>
          <a:p>
            <a:pPr algn="ctr"/>
            <a:r>
              <a:rPr lang="en-IN" b="1" u="sng" dirty="0">
                <a:solidFill>
                  <a:schemeClr val="accent1">
                    <a:lumMod val="75000"/>
                  </a:schemeClr>
                </a:solidFill>
              </a:rPr>
              <a:t>Implications for the Banking Industry</a:t>
            </a:r>
          </a:p>
        </p:txBody>
      </p:sp>
      <p:sp>
        <p:nvSpPr>
          <p:cNvPr id="3" name="Content Placeholder 2">
            <a:extLst>
              <a:ext uri="{FF2B5EF4-FFF2-40B4-BE49-F238E27FC236}">
                <a16:creationId xmlns:a16="http://schemas.microsoft.com/office/drawing/2014/main" id="{F3C124E6-89A3-E17A-D705-720149B6EB3A}"/>
              </a:ext>
            </a:extLst>
          </p:cNvPr>
          <p:cNvSpPr>
            <a:spLocks noGrp="1"/>
          </p:cNvSpPr>
          <p:nvPr>
            <p:ph idx="1"/>
          </p:nvPr>
        </p:nvSpPr>
        <p:spPr>
          <a:xfrm>
            <a:off x="838200" y="2203694"/>
            <a:ext cx="10515600" cy="4351338"/>
          </a:xfrm>
        </p:spPr>
        <p:txBody>
          <a:bodyPr/>
          <a:lstStyle/>
          <a:p>
            <a:pPr marL="514350" indent="-514350">
              <a:buAutoNum type="arabicPeriod"/>
            </a:pPr>
            <a:r>
              <a:rPr lang="en-IN" dirty="0"/>
              <a:t>Risk Management</a:t>
            </a:r>
          </a:p>
          <a:p>
            <a:pPr marL="514350" indent="-514350">
              <a:buAutoNum type="arabicPeriod"/>
            </a:pPr>
            <a:r>
              <a:rPr lang="en-IN" dirty="0"/>
              <a:t>Customer Segmentation</a:t>
            </a:r>
          </a:p>
          <a:p>
            <a:pPr marL="514350" indent="-514350">
              <a:buAutoNum type="arabicPeriod"/>
            </a:pPr>
            <a:r>
              <a:rPr lang="en-IN" dirty="0"/>
              <a:t>Market Expansion</a:t>
            </a:r>
          </a:p>
          <a:p>
            <a:pPr marL="514350" indent="-514350">
              <a:buAutoNum type="arabicPeriod"/>
            </a:pPr>
            <a:r>
              <a:rPr lang="en-IN" dirty="0"/>
              <a:t>Operational Efficiency</a:t>
            </a:r>
          </a:p>
          <a:p>
            <a:pPr marL="514350" indent="-514350">
              <a:buAutoNum type="arabicPeriod"/>
            </a:pPr>
            <a:endParaRPr lang="en-IN" dirty="0"/>
          </a:p>
        </p:txBody>
      </p:sp>
      <p:graphicFrame>
        <p:nvGraphicFramePr>
          <p:cNvPr id="4" name="Table 3">
            <a:extLst>
              <a:ext uri="{FF2B5EF4-FFF2-40B4-BE49-F238E27FC236}">
                <a16:creationId xmlns:a16="http://schemas.microsoft.com/office/drawing/2014/main" id="{F4F0894E-8380-61E2-C674-7D0617DC8536}"/>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2356616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43E8-DA01-54FA-109D-215A4846848A}"/>
              </a:ext>
            </a:extLst>
          </p:cNvPr>
          <p:cNvSpPr>
            <a:spLocks noGrp="1"/>
          </p:cNvSpPr>
          <p:nvPr>
            <p:ph type="title"/>
          </p:nvPr>
        </p:nvSpPr>
        <p:spPr/>
        <p:txBody>
          <a:bodyPr/>
          <a:lstStyle/>
          <a:p>
            <a:pPr algn="ctr"/>
            <a:r>
              <a:rPr lang="en-IN" b="1" u="sng" dirty="0">
                <a:solidFill>
                  <a:schemeClr val="accent1">
                    <a:lumMod val="75000"/>
                  </a:schemeClr>
                </a:solidFill>
              </a:rPr>
              <a:t>Limitations and Constraints</a:t>
            </a:r>
          </a:p>
        </p:txBody>
      </p:sp>
      <p:sp>
        <p:nvSpPr>
          <p:cNvPr id="3" name="Content Placeholder 2">
            <a:extLst>
              <a:ext uri="{FF2B5EF4-FFF2-40B4-BE49-F238E27FC236}">
                <a16:creationId xmlns:a16="http://schemas.microsoft.com/office/drawing/2014/main" id="{7A255CD1-3B52-DCB4-3033-EF44BDD73E69}"/>
              </a:ext>
            </a:extLst>
          </p:cNvPr>
          <p:cNvSpPr>
            <a:spLocks noGrp="1"/>
          </p:cNvSpPr>
          <p:nvPr>
            <p:ph idx="1"/>
          </p:nvPr>
        </p:nvSpPr>
        <p:spPr/>
        <p:txBody>
          <a:bodyPr/>
          <a:lstStyle/>
          <a:p>
            <a:pPr marL="514350" indent="-514350" algn="just">
              <a:buAutoNum type="arabicPeriod"/>
            </a:pPr>
            <a:r>
              <a:rPr lang="en-IN" dirty="0"/>
              <a:t>Data Quality</a:t>
            </a:r>
          </a:p>
          <a:p>
            <a:pPr marL="514350" indent="-514350" algn="just">
              <a:buAutoNum type="arabicPeriod"/>
            </a:pPr>
            <a:r>
              <a:rPr lang="en-IN" dirty="0"/>
              <a:t>Model Assumptions</a:t>
            </a:r>
          </a:p>
          <a:p>
            <a:pPr marL="514350" indent="-514350" algn="just">
              <a:buAutoNum type="arabicPeriod"/>
            </a:pPr>
            <a:r>
              <a:rPr lang="en-IN" dirty="0"/>
              <a:t>Regulatory Compliance</a:t>
            </a:r>
          </a:p>
          <a:p>
            <a:pPr marL="514350" indent="-514350" algn="just">
              <a:buAutoNum type="arabicPeriod"/>
            </a:pPr>
            <a:endParaRPr lang="en-IN" dirty="0"/>
          </a:p>
          <a:p>
            <a:pPr marL="0" indent="0" algn="just">
              <a:buNone/>
            </a:pPr>
            <a:r>
              <a:rPr lang="en-IN" dirty="0"/>
              <a:t>By addressing these limitations and constraints, banks can enhance the robustness and reliability of their loan analysis processes and leverage data-driven insights to drive strategic decision-making and optimize loan portfolio management strategies.</a:t>
            </a:r>
          </a:p>
        </p:txBody>
      </p:sp>
      <p:graphicFrame>
        <p:nvGraphicFramePr>
          <p:cNvPr id="4" name="Table 3">
            <a:extLst>
              <a:ext uri="{FF2B5EF4-FFF2-40B4-BE49-F238E27FC236}">
                <a16:creationId xmlns:a16="http://schemas.microsoft.com/office/drawing/2014/main" id="{55B4B675-95C3-4194-FFC0-962753E48392}"/>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930601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3A421-4521-C520-1819-590A0299A589}"/>
              </a:ext>
            </a:extLst>
          </p:cNvPr>
          <p:cNvSpPr>
            <a:spLocks noGrp="1"/>
          </p:cNvSpPr>
          <p:nvPr>
            <p:ph type="title"/>
          </p:nvPr>
        </p:nvSpPr>
        <p:spPr/>
        <p:txBody>
          <a:bodyPr/>
          <a:lstStyle/>
          <a:p>
            <a:pPr algn="ctr"/>
            <a:r>
              <a:rPr lang="en-IN" b="1" u="sng" dirty="0">
                <a:solidFill>
                  <a:schemeClr val="accent1">
                    <a:lumMod val="75000"/>
                  </a:schemeClr>
                </a:solidFill>
              </a:rPr>
              <a:t>Conclusion</a:t>
            </a:r>
          </a:p>
        </p:txBody>
      </p:sp>
      <p:sp>
        <p:nvSpPr>
          <p:cNvPr id="3" name="Content Placeholder 2">
            <a:extLst>
              <a:ext uri="{FF2B5EF4-FFF2-40B4-BE49-F238E27FC236}">
                <a16:creationId xmlns:a16="http://schemas.microsoft.com/office/drawing/2014/main" id="{6CF09467-5346-26D8-2E67-865EE017564C}"/>
              </a:ext>
            </a:extLst>
          </p:cNvPr>
          <p:cNvSpPr>
            <a:spLocks noGrp="1"/>
          </p:cNvSpPr>
          <p:nvPr>
            <p:ph idx="1"/>
          </p:nvPr>
        </p:nvSpPr>
        <p:spPr/>
        <p:txBody>
          <a:bodyPr/>
          <a:lstStyle/>
          <a:p>
            <a:pPr marL="514350" indent="-514350" algn="just">
              <a:buAutoNum type="arabicPeriod"/>
            </a:pPr>
            <a:r>
              <a:rPr lang="en-IN" dirty="0"/>
              <a:t>Summary of Findings:</a:t>
            </a:r>
          </a:p>
          <a:p>
            <a:pPr marL="971550" lvl="1" indent="-514350" algn="just">
              <a:buFont typeface="+mj-lt"/>
              <a:buAutoNum type="romanLcPeriod"/>
            </a:pPr>
            <a:r>
              <a:rPr lang="en-IN" dirty="0"/>
              <a:t>Loan Portfolio Performance</a:t>
            </a:r>
          </a:p>
          <a:p>
            <a:pPr marL="971550" lvl="1" indent="-514350" algn="just">
              <a:buFont typeface="+mj-lt"/>
              <a:buAutoNum type="romanLcPeriod"/>
            </a:pPr>
            <a:r>
              <a:rPr lang="en-IN" dirty="0"/>
              <a:t>Borrower Characteristics</a:t>
            </a:r>
          </a:p>
          <a:p>
            <a:pPr marL="971550" lvl="1" indent="-514350" algn="just">
              <a:buFont typeface="+mj-lt"/>
              <a:buAutoNum type="romanLcPeriod"/>
            </a:pPr>
            <a:r>
              <a:rPr lang="en-IN" dirty="0"/>
              <a:t>Geographic Variations</a:t>
            </a:r>
          </a:p>
          <a:p>
            <a:pPr marL="971550" lvl="1" indent="-514350" algn="just">
              <a:buFont typeface="+mj-lt"/>
              <a:buAutoNum type="romanLcPeriod"/>
            </a:pPr>
            <a:r>
              <a:rPr lang="en-IN" dirty="0"/>
              <a:t>Granular Insights</a:t>
            </a:r>
          </a:p>
          <a:p>
            <a:pPr marL="514350" indent="-514350" algn="just">
              <a:buAutoNum type="arabicPeriod"/>
            </a:pPr>
            <a:r>
              <a:rPr lang="en-IN" dirty="0"/>
              <a:t>Significance of the Project:</a:t>
            </a:r>
          </a:p>
          <a:p>
            <a:pPr marL="971550" lvl="1" indent="-514350" algn="just">
              <a:buFont typeface="+mj-lt"/>
              <a:buAutoNum type="romanLcPeriod"/>
            </a:pPr>
            <a:r>
              <a:rPr lang="en-IN" dirty="0"/>
              <a:t>Enhanced Risk Management</a:t>
            </a:r>
          </a:p>
          <a:p>
            <a:pPr marL="971550" lvl="1" indent="-514350" algn="just">
              <a:buFont typeface="+mj-lt"/>
              <a:buAutoNum type="romanLcPeriod"/>
            </a:pPr>
            <a:r>
              <a:rPr lang="en-IN" dirty="0"/>
              <a:t>Improved Customer Segmentation</a:t>
            </a:r>
          </a:p>
          <a:p>
            <a:pPr marL="971550" lvl="1" indent="-514350" algn="just">
              <a:buFont typeface="+mj-lt"/>
              <a:buAutoNum type="romanLcPeriod"/>
            </a:pPr>
            <a:r>
              <a:rPr lang="en-IN" dirty="0"/>
              <a:t>Operational Efficiency</a:t>
            </a:r>
          </a:p>
          <a:p>
            <a:pPr marL="457200" lvl="1" indent="0" algn="just">
              <a:buNone/>
            </a:pPr>
            <a:r>
              <a:rPr lang="en-IN" dirty="0"/>
              <a:t>	</a:t>
            </a:r>
          </a:p>
        </p:txBody>
      </p:sp>
      <p:graphicFrame>
        <p:nvGraphicFramePr>
          <p:cNvPr id="4" name="Table 3">
            <a:extLst>
              <a:ext uri="{FF2B5EF4-FFF2-40B4-BE49-F238E27FC236}">
                <a16:creationId xmlns:a16="http://schemas.microsoft.com/office/drawing/2014/main" id="{80E098D1-8214-DED0-B58A-C1BAEC4CE46C}"/>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1153035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47E1-FCEC-C3C8-D834-D10D4951BC88}"/>
              </a:ext>
            </a:extLst>
          </p:cNvPr>
          <p:cNvSpPr>
            <a:spLocks noGrp="1"/>
          </p:cNvSpPr>
          <p:nvPr>
            <p:ph type="title"/>
          </p:nvPr>
        </p:nvSpPr>
        <p:spPr/>
        <p:txBody>
          <a:bodyPr/>
          <a:lstStyle/>
          <a:p>
            <a:pPr algn="ctr"/>
            <a:r>
              <a:rPr lang="en-IN" b="1" u="sng" dirty="0">
                <a:solidFill>
                  <a:schemeClr val="accent1">
                    <a:lumMod val="75000"/>
                  </a:schemeClr>
                </a:solidFill>
              </a:rPr>
              <a:t>Areas For Further Research or Improvement</a:t>
            </a:r>
          </a:p>
        </p:txBody>
      </p:sp>
      <p:sp>
        <p:nvSpPr>
          <p:cNvPr id="3" name="Content Placeholder 2">
            <a:extLst>
              <a:ext uri="{FF2B5EF4-FFF2-40B4-BE49-F238E27FC236}">
                <a16:creationId xmlns:a16="http://schemas.microsoft.com/office/drawing/2014/main" id="{E438E43F-18E5-2974-CAD1-4B75C6C8008E}"/>
              </a:ext>
            </a:extLst>
          </p:cNvPr>
          <p:cNvSpPr>
            <a:spLocks noGrp="1"/>
          </p:cNvSpPr>
          <p:nvPr>
            <p:ph idx="1"/>
          </p:nvPr>
        </p:nvSpPr>
        <p:spPr/>
        <p:txBody>
          <a:bodyPr/>
          <a:lstStyle/>
          <a:p>
            <a:pPr marL="514350" indent="-514350" algn="just">
              <a:buAutoNum type="arabicPeriod"/>
            </a:pPr>
            <a:r>
              <a:rPr lang="en-IN" dirty="0"/>
              <a:t>Advanced Analytics</a:t>
            </a:r>
          </a:p>
          <a:p>
            <a:pPr marL="514350" indent="-514350" algn="just">
              <a:buAutoNum type="arabicPeriod"/>
            </a:pPr>
            <a:r>
              <a:rPr lang="en-IN" dirty="0"/>
              <a:t>Data Integration</a:t>
            </a:r>
          </a:p>
          <a:p>
            <a:pPr marL="514350" indent="-514350" algn="just">
              <a:buAutoNum type="arabicPeriod"/>
            </a:pPr>
            <a:r>
              <a:rPr lang="en-IN" dirty="0"/>
              <a:t>Regulatory Compliance</a:t>
            </a:r>
          </a:p>
          <a:p>
            <a:pPr marL="514350" indent="-514350" algn="just">
              <a:buAutoNum type="arabicPeriod"/>
            </a:pPr>
            <a:r>
              <a:rPr lang="en-IN" dirty="0"/>
              <a:t>Real-Time Monitoring</a:t>
            </a:r>
          </a:p>
          <a:p>
            <a:pPr marL="0" indent="0" algn="just">
              <a:buNone/>
            </a:pPr>
            <a:endParaRPr lang="en-IN" dirty="0"/>
          </a:p>
          <a:p>
            <a:pPr marL="0" indent="0" algn="just">
              <a:buNone/>
            </a:pPr>
            <a:r>
              <a:rPr lang="en-IN" dirty="0"/>
              <a:t>By embracing technology and data-driven approaches, banks can enhance their risk management practices, improve customer satisfaction, and drive operational efficiency in the ever-evolving financial landscape.</a:t>
            </a:r>
          </a:p>
        </p:txBody>
      </p:sp>
      <p:graphicFrame>
        <p:nvGraphicFramePr>
          <p:cNvPr id="4" name="Table 3">
            <a:extLst>
              <a:ext uri="{FF2B5EF4-FFF2-40B4-BE49-F238E27FC236}">
                <a16:creationId xmlns:a16="http://schemas.microsoft.com/office/drawing/2014/main" id="{1D576086-BB63-EE85-F330-BF1D3DF24E6D}"/>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4275171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3E53-2AF2-A06C-BFA6-452E26EB598F}"/>
              </a:ext>
            </a:extLst>
          </p:cNvPr>
          <p:cNvSpPr>
            <a:spLocks noGrp="1"/>
          </p:cNvSpPr>
          <p:nvPr>
            <p:ph type="title"/>
          </p:nvPr>
        </p:nvSpPr>
        <p:spPr>
          <a:xfrm>
            <a:off x="838200" y="-255361"/>
            <a:ext cx="10515600" cy="1325563"/>
          </a:xfrm>
        </p:spPr>
        <p:txBody>
          <a:bodyPr/>
          <a:lstStyle/>
          <a:p>
            <a:pPr algn="ctr"/>
            <a:r>
              <a:rPr lang="en-IN" b="1" u="sng" dirty="0">
                <a:solidFill>
                  <a:schemeClr val="accent1">
                    <a:lumMod val="75000"/>
                  </a:schemeClr>
                </a:solidFill>
              </a:rPr>
              <a:t>References</a:t>
            </a:r>
          </a:p>
        </p:txBody>
      </p:sp>
      <p:sp>
        <p:nvSpPr>
          <p:cNvPr id="3" name="Content Placeholder 2">
            <a:extLst>
              <a:ext uri="{FF2B5EF4-FFF2-40B4-BE49-F238E27FC236}">
                <a16:creationId xmlns:a16="http://schemas.microsoft.com/office/drawing/2014/main" id="{482930EB-FD92-17A6-C378-957E1CCB94E8}"/>
              </a:ext>
            </a:extLst>
          </p:cNvPr>
          <p:cNvSpPr>
            <a:spLocks noGrp="1"/>
          </p:cNvSpPr>
          <p:nvPr>
            <p:ph idx="1"/>
          </p:nvPr>
        </p:nvSpPr>
        <p:spPr>
          <a:xfrm>
            <a:off x="555171" y="914400"/>
            <a:ext cx="11299372" cy="5666014"/>
          </a:xfrm>
        </p:spPr>
        <p:txBody>
          <a:bodyPr>
            <a:normAutofit fontScale="92500" lnSpcReduction="10000"/>
          </a:bodyPr>
          <a:lstStyle/>
          <a:p>
            <a:pPr marL="0" indent="0" algn="just">
              <a:lnSpc>
                <a:spcPct val="150000"/>
              </a:lnSpc>
              <a:spcBef>
                <a:spcPts val="1200"/>
              </a:spcBef>
              <a:spcAft>
                <a:spcPts val="800"/>
              </a:spcAft>
              <a:buNone/>
            </a:pPr>
            <a:r>
              <a:rPr lang="en-US" sz="1800" kern="100" dirty="0">
                <a:effectLst/>
                <a:ea typeface="Calibri" panose="020F0502020204030204" pitchFamily="34" charset="0"/>
              </a:rPr>
              <a:t>1. Altman, E. I. (1968). Financial ratios, discriminant analysis and the prediction of corporate bankruptcy. *Journal of Finance*, 23(4), 589-609.</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2. Basel Committee on Banking Supervision. (2010). Basel III: A global regulatory framework for more resilient banks and banking systems. Bank for International Settlements.</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3. Microsoft. (n.d.). [</a:t>
            </a:r>
            <a:r>
              <a:rPr lang="en-US" sz="1800" u="sng" kern="100" dirty="0">
                <a:solidFill>
                  <a:srgbClr val="0070C0"/>
                </a:solidFill>
                <a:effectLst/>
                <a:ea typeface="Calibri" panose="020F0502020204030204" pitchFamily="34" charset="0"/>
                <a:hlinkClick r:id="rId2"/>
              </a:rPr>
              <a:t>Power BI Documentation</a:t>
            </a:r>
            <a:r>
              <a:rPr lang="en-US" sz="1800" kern="100" dirty="0">
                <a:effectLst/>
                <a:ea typeface="Calibri" panose="020F0502020204030204" pitchFamily="34" charset="0"/>
              </a:rPr>
              <a:t>]</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4. Moody's Analytics. (2020). [</a:t>
            </a:r>
            <a:r>
              <a:rPr lang="en-US" sz="1800" u="sng" kern="100" dirty="0" err="1">
                <a:solidFill>
                  <a:srgbClr val="0070C0"/>
                </a:solidFill>
                <a:effectLst/>
                <a:ea typeface="Calibri" panose="020F0502020204030204" pitchFamily="34" charset="0"/>
                <a:hlinkClick r:id="rId3"/>
              </a:rPr>
              <a:t>RiskCalc</a:t>
            </a:r>
            <a:r>
              <a:rPr lang="en-US" sz="1800" u="sng" kern="100" dirty="0">
                <a:solidFill>
                  <a:srgbClr val="0070C0"/>
                </a:solidFill>
                <a:effectLst/>
                <a:ea typeface="Calibri" panose="020F0502020204030204" pitchFamily="34" charset="0"/>
                <a:hlinkClick r:id="rId3"/>
              </a:rPr>
              <a:t>™ Credit Risk Modeling and Validation</a:t>
            </a:r>
            <a:r>
              <a:rPr lang="en-US" sz="1800" kern="100" dirty="0">
                <a:effectLst/>
                <a:ea typeface="Calibri" panose="020F0502020204030204" pitchFamily="34" charset="0"/>
              </a:rPr>
              <a:t>]</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5. RStudio Team. (2020). [</a:t>
            </a:r>
            <a:r>
              <a:rPr lang="en-US" sz="1800" u="sng" kern="100" dirty="0">
                <a:solidFill>
                  <a:srgbClr val="0070C0"/>
                </a:solidFill>
                <a:effectLst/>
                <a:ea typeface="Calibri" panose="020F0502020204030204" pitchFamily="34" charset="0"/>
                <a:hlinkClick r:id="rId4"/>
              </a:rPr>
              <a:t>RStudio: Integrated Development for R</a:t>
            </a:r>
            <a:r>
              <a:rPr lang="en-US" sz="1800" kern="100" dirty="0">
                <a:effectLst/>
                <a:ea typeface="Calibri" panose="020F0502020204030204" pitchFamily="34" charset="0"/>
              </a:rPr>
              <a:t>]</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6. U.S. Securities and Exchange Commission. (2020). [</a:t>
            </a:r>
            <a:r>
              <a:rPr lang="en-US" sz="1800" u="sng" kern="100" dirty="0">
                <a:solidFill>
                  <a:srgbClr val="0070C0"/>
                </a:solidFill>
                <a:effectLst/>
                <a:ea typeface="Calibri" panose="020F0502020204030204" pitchFamily="34" charset="0"/>
                <a:hlinkClick r:id="rId5"/>
              </a:rPr>
              <a:t>EDGAR - Electronic Data Gathering, Analysis, and Retrieval</a:t>
            </a:r>
            <a:r>
              <a:rPr lang="en-US" sz="1800" kern="100" dirty="0">
                <a:effectLst/>
                <a:ea typeface="Calibri" panose="020F0502020204030204" pitchFamily="34" charset="0"/>
              </a:rPr>
              <a:t>]</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7. World Bank. (2020). [</a:t>
            </a:r>
            <a:r>
              <a:rPr lang="en-US" sz="1800" u="sng" kern="100" dirty="0">
                <a:solidFill>
                  <a:srgbClr val="0070C0"/>
                </a:solidFill>
                <a:effectLst/>
                <a:ea typeface="Calibri" panose="020F0502020204030204" pitchFamily="34" charset="0"/>
                <a:hlinkClick r:id="rId6"/>
              </a:rPr>
              <a:t>World Bank Open Data</a:t>
            </a:r>
            <a:r>
              <a:rPr lang="en-US" sz="1800" kern="100" dirty="0">
                <a:effectLst/>
                <a:ea typeface="Calibri" panose="020F0502020204030204" pitchFamily="34" charset="0"/>
              </a:rPr>
              <a:t>]</a:t>
            </a:r>
            <a:endParaRPr lang="en-IN" sz="1800" kern="100" dirty="0">
              <a:effectLst/>
              <a:ea typeface="Calibri" panose="020F0502020204030204" pitchFamily="34" charset="0"/>
            </a:endParaRPr>
          </a:p>
          <a:p>
            <a:pPr marL="0" indent="0" algn="just">
              <a:lnSpc>
                <a:spcPct val="150000"/>
              </a:lnSpc>
              <a:spcAft>
                <a:spcPts val="800"/>
              </a:spcAft>
              <a:buNone/>
            </a:pPr>
            <a:r>
              <a:rPr lang="en-US" sz="1800" kern="100" dirty="0">
                <a:effectLst/>
                <a:ea typeface="Calibri" panose="020F0502020204030204" pitchFamily="34" charset="0"/>
              </a:rPr>
              <a:t>9. Market Trends Report 2023: ABC Financial Services.</a:t>
            </a:r>
            <a:endParaRPr lang="en-IN" sz="1800" kern="100" dirty="0">
              <a:effectLst/>
              <a:ea typeface="Calibri" panose="020F0502020204030204" pitchFamily="34" charset="0"/>
            </a:endParaRPr>
          </a:p>
          <a:p>
            <a:pPr marL="0" indent="0" algn="just">
              <a:buNone/>
            </a:pPr>
            <a:endParaRPr lang="en-IN" dirty="0"/>
          </a:p>
        </p:txBody>
      </p:sp>
      <p:graphicFrame>
        <p:nvGraphicFramePr>
          <p:cNvPr id="4" name="Table 3">
            <a:extLst>
              <a:ext uri="{FF2B5EF4-FFF2-40B4-BE49-F238E27FC236}">
                <a16:creationId xmlns:a16="http://schemas.microsoft.com/office/drawing/2014/main" id="{02F11803-EBB9-B838-714D-AFEB704D8432}"/>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2601057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A5BB-9A56-DE12-4B20-0B24F00510C8}"/>
              </a:ext>
            </a:extLst>
          </p:cNvPr>
          <p:cNvSpPr>
            <a:spLocks noGrp="1"/>
          </p:cNvSpPr>
          <p:nvPr>
            <p:ph type="ctrTitle"/>
          </p:nvPr>
        </p:nvSpPr>
        <p:spPr>
          <a:xfrm>
            <a:off x="1524000" y="2235200"/>
            <a:ext cx="9144000" cy="2387600"/>
          </a:xfrm>
        </p:spPr>
        <p:txBody>
          <a:bodyPr>
            <a:normAutofit/>
          </a:bodyPr>
          <a:lstStyle/>
          <a:p>
            <a:r>
              <a:rPr lang="en-IN" sz="13800" b="1" dirty="0">
                <a:solidFill>
                  <a:schemeClr val="accent1">
                    <a:lumMod val="75000"/>
                  </a:schemeClr>
                </a:solidFill>
              </a:rPr>
              <a:t>Thank You</a:t>
            </a:r>
          </a:p>
        </p:txBody>
      </p:sp>
      <p:graphicFrame>
        <p:nvGraphicFramePr>
          <p:cNvPr id="4" name="Table 3">
            <a:extLst>
              <a:ext uri="{FF2B5EF4-FFF2-40B4-BE49-F238E27FC236}">
                <a16:creationId xmlns:a16="http://schemas.microsoft.com/office/drawing/2014/main" id="{6804B91B-3DA7-9386-12D7-C0E1D96D4CE3}"/>
              </a:ext>
            </a:extLst>
          </p:cNvPr>
          <p:cNvGraphicFramePr>
            <a:graphicFrameLocks noGrp="1"/>
          </p:cNvGraphicFramePr>
          <p:nvPr>
            <p:extLst>
              <p:ext uri="{D42A27DB-BD31-4B8C-83A1-F6EECF244321}">
                <p14:modId xmlns:p14="http://schemas.microsoft.com/office/powerpoint/2010/main" val="2454573568"/>
              </p:ext>
            </p:extLst>
          </p:nvPr>
        </p:nvGraphicFramePr>
        <p:xfrm>
          <a:off x="114300" y="96714"/>
          <a:ext cx="11992708" cy="6646985"/>
        </p:xfrm>
        <a:graphic>
          <a:graphicData uri="http://schemas.openxmlformats.org/drawingml/2006/table">
            <a:tbl>
              <a:tblPr/>
              <a:tblGrid>
                <a:gridCol w="11992708">
                  <a:extLst>
                    <a:ext uri="{9D8B030D-6E8A-4147-A177-3AD203B41FA5}">
                      <a16:colId xmlns:a16="http://schemas.microsoft.com/office/drawing/2014/main" val="853894930"/>
                    </a:ext>
                  </a:extLst>
                </a:gridCol>
              </a:tblGrid>
              <a:tr h="664698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10706121"/>
                  </a:ext>
                </a:extLst>
              </a:tr>
            </a:tbl>
          </a:graphicData>
        </a:graphic>
      </p:graphicFrame>
    </p:spTree>
    <p:extLst>
      <p:ext uri="{BB962C8B-B14F-4D97-AF65-F5344CB8AC3E}">
        <p14:creationId xmlns:p14="http://schemas.microsoft.com/office/powerpoint/2010/main" val="3265540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801</Words>
  <Application>Microsoft Office PowerPoint</Application>
  <PresentationFormat>Widescreen</PresentationFormat>
  <Paragraphs>73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BANK LOAN ANALYSIS USING POWER BI</vt:lpstr>
      <vt:lpstr>Introduction</vt:lpstr>
      <vt:lpstr>Problem Statement</vt:lpstr>
      <vt:lpstr>Objective</vt:lpstr>
      <vt:lpstr>Significance of Bank Loan Analysis in the Financial Sector</vt:lpstr>
      <vt:lpstr>Effective Bank Loan Analysis enables Financial Institutions to:</vt:lpstr>
      <vt:lpstr>Methodology</vt:lpstr>
      <vt:lpstr>Methodology</vt:lpstr>
      <vt:lpstr>Methodology</vt:lpstr>
      <vt:lpstr>Implications for the Banking Industry</vt:lpstr>
      <vt:lpstr>Limitations and Constraints</vt:lpstr>
      <vt:lpstr>Conclusion</vt:lpstr>
      <vt:lpstr>Areas For Further Research or Improvement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LOAN ANALYSIS USING POWER BI</dc:title>
  <dc:creator>Harshita Sancheti</dc:creator>
  <cp:lastModifiedBy>Harshita Sancheti</cp:lastModifiedBy>
  <cp:revision>1</cp:revision>
  <dcterms:created xsi:type="dcterms:W3CDTF">2024-05-02T20:17:00Z</dcterms:created>
  <dcterms:modified xsi:type="dcterms:W3CDTF">2024-05-02T20:32:02Z</dcterms:modified>
</cp:coreProperties>
</file>